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7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6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24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D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F5C518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028432" y="0"/>
            <a:ext cx="320040" cy="6858000"/>
          </a:xfrm>
          <a:prstGeom prst="rect">
            <a:avLst/>
          </a:prstGeom>
          <a:solidFill>
            <a:srgbClr val="FFDB4D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pic>
        <p:nvPicPr>
          <p:cNvPr id="5" name="Image 0" descr="re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432304" cy="649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45920"/>
            <a:ext cx="694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 dirty="0">
                <a:solidFill>
                  <a:srgbClr val="F5C518"/>
                </a:solidFill>
                <a:latin typeface="Arial"/>
              </a:rPr>
              <a:t>DEPARTMENT OF ARTIFICIAL INTELLIGENCE AND</a:t>
            </a:r>
            <a:r>
              <a:rPr lang="en-US" sz="1300" b="1" dirty="0">
                <a:solidFill>
                  <a:srgbClr val="F5C518"/>
                </a:solidFill>
                <a:latin typeface="Arial"/>
              </a:rPr>
              <a:t> MACHINE LEANING 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0352" y="2240280"/>
            <a:ext cx="822960" cy="54864"/>
          </a:xfrm>
          <a:prstGeom prst="rect">
            <a:avLst/>
          </a:prstGeom>
          <a:solidFill>
            <a:srgbClr val="F5C518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69494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</a:rPr>
              <a:t>FOODWISE AI: AGENTIC AI FOOD WASTE PREDICTION AND PREVENTION SYSTEM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530351" y="4139738"/>
            <a:ext cx="4263321" cy="2151334"/>
          </a:xfrm>
          <a:prstGeom prst="roundRect">
            <a:avLst>
              <a:gd name="adj" fmla="val 6452"/>
            </a:avLst>
          </a:prstGeom>
          <a:solidFill>
            <a:srgbClr val="3D1F5E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58368" y="4251683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F5C518"/>
                </a:solidFill>
                <a:latin typeface="Arial"/>
              </a:rPr>
              <a:t>Team Members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1" y="4637947"/>
            <a:ext cx="3577521" cy="138877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Meghna Rajesh </a:t>
            </a:r>
            <a:r>
              <a:rPr lang="en-US" sz="1400" i="1" dirty="0" err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Mellam</a:t>
            </a: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-  231501098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Princess Darlene </a:t>
            </a:r>
            <a:r>
              <a:rPr lang="en-US" sz="1400" i="1" dirty="0" err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Karonah</a:t>
            </a: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– 231501123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Vishal M - 231501184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142" y="261257"/>
            <a:ext cx="3237140" cy="6161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Problem Statement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latin typeface="Arial Black"/>
              </a:rPr>
              <a:t>1</a:t>
            </a:r>
            <a:endParaRPr lang="en-IN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101"/>
          <p:cNvSpPr/>
          <p:nvPr/>
        </p:nvSpPr>
        <p:spPr>
          <a:xfrm>
            <a:off x="868680" y="17830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700" b="1" i="0">
                <a:solidFill>
                  <a:srgbClr val="5B2D8E"/>
                </a:solidFill>
                <a:latin typeface="Arial"/>
              </a:rPr>
              <a:t>Food Demand Is Difficult to Estimate Reliably</a:t>
            </a:r>
            <a:endParaRPr lang="en-US" sz="17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868680" y="2286000"/>
            <a:ext cx="5212080" cy="3383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r>
              <a:rPr lang="en-IN" dirty="0"/>
              <a:t>Cafeterias and restaurants often over-prepare food because demand is difficult to predict accurately. This results in food waste, higher costs, and inefficient resource usage. </a:t>
            </a:r>
            <a:r>
              <a:rPr lang="en-IN" dirty="0" err="1"/>
              <a:t>FoodWise</a:t>
            </a:r>
            <a:r>
              <a:rPr lang="en-IN" dirty="0"/>
              <a:t> AI uses ML-based demand prediction and an Agentic AI decision layer to recommend optimal preparation quantities and continuously improve decisions using actual sales and leftover data.</a:t>
            </a:r>
            <a:endParaRPr lang="en-US" b="1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6675120" y="17830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Food Waste Prediction &amp; Prevention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6675120" y="2240280"/>
            <a:ext cx="44805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228600" tIns="45720" rIns="228600" bIns="45720" rtlCol="0" anchor="ctr"/>
          <a:lstStyle/>
          <a:p>
            <a:r>
              <a:rPr lang="en-IN" sz="2500" b="1" dirty="0">
                <a:solidFill>
                  <a:srgbClr val="7030A0"/>
                </a:solidFill>
              </a:rPr>
              <a:t>Demand Prediction</a:t>
            </a:r>
            <a:endParaRPr lang="en-US" sz="2500" b="1" i="0" dirty="0">
              <a:solidFill>
                <a:srgbClr val="7030A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6675120" y="28803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Bef>
                <a:spcPts val="0"/>
              </a:spcBef>
              <a:buNone/>
            </a:pPr>
            <a:endParaRPr lang="en-US" sz="1100" b="0" i="0" dirty="0">
              <a:solidFill>
                <a:srgbClr val="F5C51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6675120" y="3154680"/>
            <a:ext cx="44805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228600" tIns="45720" rIns="228600" bIns="45720" rtlCol="0" anchor="ctr"/>
          <a:lstStyle/>
          <a:p>
            <a:r>
              <a:rPr lang="en-IN" sz="2500" b="1" dirty="0">
                <a:solidFill>
                  <a:srgbClr val="7030A0"/>
                </a:solidFill>
              </a:rPr>
              <a:t>Optimal Preparation</a:t>
            </a:r>
            <a:endParaRPr lang="en-US" sz="2500" b="1" i="0" dirty="0">
              <a:solidFill>
                <a:srgbClr val="7030A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6675120" y="37947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Bef>
                <a:spcPts val="0"/>
              </a:spcBef>
              <a:buNone/>
            </a:pPr>
            <a:endParaRPr lang="en-US" sz="1100" b="0" i="0" dirty="0">
              <a:solidFill>
                <a:srgbClr val="F5C51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6675120" y="4069080"/>
            <a:ext cx="44805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228600" tIns="45720" rIns="228600" bIns="45720" rtlCol="0" anchor="ctr"/>
          <a:lstStyle/>
          <a:p>
            <a:r>
              <a:rPr lang="en-IN" sz="2500" b="1" dirty="0">
                <a:solidFill>
                  <a:srgbClr val="7030A0"/>
                </a:solidFill>
              </a:rPr>
              <a:t>Waste Monitoring</a:t>
            </a:r>
            <a:endParaRPr lang="en-US" sz="2500" b="1" i="0" dirty="0">
              <a:solidFill>
                <a:srgbClr val="7030A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6675120" y="47091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Bef>
                <a:spcPts val="0"/>
              </a:spcBef>
              <a:buNone/>
            </a:pPr>
            <a:endParaRPr lang="en-US" sz="1100" b="0" i="0" dirty="0">
              <a:solidFill>
                <a:srgbClr val="F5C51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0" name="Shape 110"/>
          <p:cNvSpPr/>
          <p:nvPr/>
        </p:nvSpPr>
        <p:spPr>
          <a:xfrm>
            <a:off x="6675120" y="4983480"/>
            <a:ext cx="4480560" cy="640080"/>
          </a:xfrm>
          <a:prstGeom prst="roundRect">
            <a:avLst>
              <a:gd name="adj" fmla="val 12000"/>
            </a:avLst>
          </a:prstGeom>
          <a:solidFill>
            <a:srgbClr val="5B2D8E"/>
          </a:solidFill>
          <a:ln w="12700">
            <a:solidFill>
              <a:srgbClr val="E1D6EE"/>
            </a:solidFill>
          </a:ln>
        </p:spPr>
        <p:txBody>
          <a:bodyPr wrap="square" lIns="228600" tIns="45720" rIns="228600" bIns="45720" rtlCol="0" anchor="ctr"/>
          <a:lstStyle/>
          <a:p>
            <a:r>
              <a:rPr lang="en-IN" sz="2500" b="1" dirty="0"/>
              <a:t>Continuous Improvement</a:t>
            </a:r>
            <a:endParaRPr lang="en-US" sz="2500" b="1" i="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38FD57-7077-184D-B3A6-E3406DD4D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489" y="317646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303072"/>
            <a:chOff x="457200" y="502920"/>
            <a:chExt cx="11366429" cy="630307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Proposed System: Analysis Pipeline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520800" y="653167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 dirty="0">
                <a:latin typeface="Arial Black"/>
              </a:rPr>
              <a:t>2</a:t>
            </a:r>
            <a:endParaRPr lang="en-IN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Shape 111"/>
          <p:cNvSpPr/>
          <p:nvPr/>
        </p:nvSpPr>
        <p:spPr>
          <a:xfrm>
            <a:off x="868680" y="16916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Combines demand forecasting, adaptive decision-making, feedback, and explainable analytics in one modular system.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Shape 112"/>
          <p:cNvSpPr/>
          <p:nvPr/>
        </p:nvSpPr>
        <p:spPr>
          <a:xfrm>
            <a:off x="868680" y="2286000"/>
            <a:ext cx="3322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13" name="Shape 113"/>
          <p:cNvSpPr/>
          <p:nvPr/>
        </p:nvSpPr>
        <p:spPr>
          <a:xfrm>
            <a:off x="100584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114" name="Shape 114"/>
          <p:cNvSpPr/>
          <p:nvPr/>
        </p:nvSpPr>
        <p:spPr>
          <a:xfrm>
            <a:off x="1508760" y="2359152"/>
            <a:ext cx="259080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Demand Data | Historical sales, weekday/weekend, food category and recent consumption patterns.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5" name="Shape 115"/>
          <p:cNvSpPr/>
          <p:nvPr/>
        </p:nvSpPr>
        <p:spPr>
          <a:xfrm>
            <a:off x="4419600" y="2286000"/>
            <a:ext cx="3322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16" name="Shape 116"/>
          <p:cNvSpPr/>
          <p:nvPr/>
        </p:nvSpPr>
        <p:spPr>
          <a:xfrm>
            <a:off x="455676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117" name="Shape 117"/>
          <p:cNvSpPr/>
          <p:nvPr/>
        </p:nvSpPr>
        <p:spPr>
          <a:xfrm>
            <a:off x="5026855" y="2230049"/>
            <a:ext cx="259080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ML Forecast | Random Forest predicts expected servings for the selected food item and date.</a:t>
            </a:r>
            <a:endParaRPr lang="en-US" sz="1400" b="1" i="0" dirty="0">
              <a:solidFill>
                <a:srgbClr val="5B2D8E"/>
              </a:solidFill>
              <a:latin typeface="Arial"/>
            </a:endParaRPr>
          </a:p>
          <a:p>
            <a:r>
              <a:rPr lang="en-IN" sz="1500" b="1" dirty="0">
                <a:solidFill>
                  <a:srgbClr val="7030A0"/>
                </a:solidFill>
              </a:rPr>
              <a:t>Context Retrieval – Retrieve recent waste, prediction errors and contextual information</a:t>
            </a:r>
            <a:r>
              <a:rPr lang="en-IN" sz="1400" dirty="0"/>
              <a:t>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7970520" y="2286000"/>
            <a:ext cx="3322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19" name="Shape 119"/>
          <p:cNvSpPr/>
          <p:nvPr/>
        </p:nvSpPr>
        <p:spPr>
          <a:xfrm>
            <a:off x="810768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120" name="Shape 120"/>
          <p:cNvSpPr/>
          <p:nvPr/>
        </p:nvSpPr>
        <p:spPr>
          <a:xfrm>
            <a:off x="8610600" y="2359152"/>
            <a:ext cx="259080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Agent Decision | Adjusts the preparation quantity using waste rate, recent error, weather and events.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868680" y="4114800"/>
            <a:ext cx="3322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22" name="Shape 122"/>
          <p:cNvSpPr/>
          <p:nvPr/>
        </p:nvSpPr>
        <p:spPr>
          <a:xfrm>
            <a:off x="100584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4</a:t>
            </a:r>
          </a:p>
        </p:txBody>
      </p:sp>
      <p:sp>
        <p:nvSpPr>
          <p:cNvPr id="123" name="Shape 123"/>
          <p:cNvSpPr/>
          <p:nvPr/>
        </p:nvSpPr>
        <p:spPr>
          <a:xfrm>
            <a:off x="1508760" y="4187952"/>
            <a:ext cx="259080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Preparation Plan | Converts prediction into an actionable quantity for kitchen staff.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4419600" y="4114800"/>
            <a:ext cx="3322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25" name="Shape 125"/>
          <p:cNvSpPr/>
          <p:nvPr/>
        </p:nvSpPr>
        <p:spPr>
          <a:xfrm>
            <a:off x="455676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5</a:t>
            </a:r>
          </a:p>
        </p:txBody>
      </p:sp>
      <p:sp>
        <p:nvSpPr>
          <p:cNvPr id="126" name="Shape 126"/>
          <p:cNvSpPr/>
          <p:nvPr/>
        </p:nvSpPr>
        <p:spPr>
          <a:xfrm>
            <a:off x="5059680" y="4187952"/>
            <a:ext cx="259080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Actual Outcome | Sales and leftovers are recorded after service.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7970520" y="4114800"/>
            <a:ext cx="3322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28" name="Shape 128"/>
          <p:cNvSpPr/>
          <p:nvPr/>
        </p:nvSpPr>
        <p:spPr>
          <a:xfrm>
            <a:off x="810768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6</a:t>
            </a:r>
          </a:p>
        </p:txBody>
      </p:sp>
      <p:sp>
        <p:nvSpPr>
          <p:cNvPr id="129" name="Shape 129"/>
          <p:cNvSpPr/>
          <p:nvPr/>
        </p:nvSpPr>
        <p:spPr>
          <a:xfrm>
            <a:off x="8610600" y="4187952"/>
            <a:ext cx="259080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Feedback Loop | Prediction error and waste trends update future recommendations.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721CDC-18E8-6240-876B-3A1AED60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80" y="302514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Proposed System: Data Sources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latin typeface="Arial Black"/>
              </a:rPr>
              <a:t>3</a:t>
            </a:r>
            <a:endParaRPr lang="en-IN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868680" y="16916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Historical demand, operational records, and contextual signals support every recommendation.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2" name="Shape 142"/>
          <p:cNvSpPr/>
          <p:nvPr/>
        </p:nvSpPr>
        <p:spPr>
          <a:xfrm>
            <a:off x="868680" y="2286000"/>
            <a:ext cx="19385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43" name="Shape 143"/>
          <p:cNvSpPr/>
          <p:nvPr/>
        </p:nvSpPr>
        <p:spPr>
          <a:xfrm>
            <a:off x="1005840" y="2359152"/>
            <a:ext cx="1709928" cy="234086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r>
              <a:rPr lang="en-IN" sz="2000" b="1" dirty="0"/>
              <a:t>Historical Sales Data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Food item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Quantity sold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Day of week</a:t>
            </a:r>
          </a:p>
        </p:txBody>
      </p:sp>
      <p:sp>
        <p:nvSpPr>
          <p:cNvPr id="144" name="Shape 144"/>
          <p:cNvSpPr/>
          <p:nvPr/>
        </p:nvSpPr>
        <p:spPr>
          <a:xfrm>
            <a:off x="2990088" y="2286000"/>
            <a:ext cx="19385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45" name="Shape 145"/>
          <p:cNvSpPr/>
          <p:nvPr/>
        </p:nvSpPr>
        <p:spPr>
          <a:xfrm>
            <a:off x="3012948" y="2359152"/>
            <a:ext cx="1984248" cy="2395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r>
              <a:rPr lang="en-IN" sz="2000" b="1" dirty="0"/>
              <a:t>Food Waste Records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Leftover quantity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Waste percentage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Previous over-preparation</a:t>
            </a:r>
          </a:p>
        </p:txBody>
      </p:sp>
      <p:sp>
        <p:nvSpPr>
          <p:cNvPr id="146" name="Shape 146"/>
          <p:cNvSpPr/>
          <p:nvPr/>
        </p:nvSpPr>
        <p:spPr>
          <a:xfrm>
            <a:off x="5111496" y="2286000"/>
            <a:ext cx="19385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47" name="Shape 147"/>
          <p:cNvSpPr/>
          <p:nvPr/>
        </p:nvSpPr>
        <p:spPr>
          <a:xfrm>
            <a:off x="5248656" y="2359152"/>
            <a:ext cx="1801368" cy="234086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r>
              <a:rPr lang="en-IN" sz="2000" b="1" dirty="0"/>
              <a:t>Food Metadata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Food category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Serving capacity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Preparation constraints</a:t>
            </a:r>
          </a:p>
        </p:txBody>
      </p:sp>
      <p:sp>
        <p:nvSpPr>
          <p:cNvPr id="148" name="Shape 148"/>
          <p:cNvSpPr/>
          <p:nvPr/>
        </p:nvSpPr>
        <p:spPr>
          <a:xfrm>
            <a:off x="7255764" y="2191059"/>
            <a:ext cx="19385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49" name="Shape 149"/>
          <p:cNvSpPr/>
          <p:nvPr/>
        </p:nvSpPr>
        <p:spPr>
          <a:xfrm>
            <a:off x="7255764" y="2359152"/>
            <a:ext cx="1938528" cy="234086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r>
              <a:rPr lang="en-IN" sz="2000" b="1" dirty="0"/>
              <a:t>Context Data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Weather/temperature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Holidays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Special events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Weekend/weekday</a:t>
            </a:r>
          </a:p>
        </p:txBody>
      </p:sp>
      <p:sp>
        <p:nvSpPr>
          <p:cNvPr id="151" name="Shape 151"/>
          <p:cNvSpPr/>
          <p:nvPr/>
        </p:nvSpPr>
        <p:spPr>
          <a:xfrm>
            <a:off x="9491472" y="2359152"/>
            <a:ext cx="1709928" cy="234086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2" name="Shape 152"/>
          <p:cNvSpPr/>
          <p:nvPr/>
        </p:nvSpPr>
        <p:spPr>
          <a:xfrm>
            <a:off x="868680" y="49377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5B2D8E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 i="0">
                <a:solidFill>
                  <a:srgbClr val="F5C518"/>
                </a:solidFill>
                <a:latin typeface="Arial"/>
              </a:rPr>
              <a:t>KEY ARCHITECTURAL HIGHLIGHT | Numerical prediction stays separate from the agent decision layer; the agent explains and adjusts rather than inventing demand values.</a:t>
            </a:r>
            <a:endParaRPr lang="en-US" sz="1100" b="1" i="0" dirty="0">
              <a:solidFill>
                <a:srgbClr val="F5C51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81549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A45C1-35A0-E243-8885-8F235B44A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25552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System Architecture: Tiered View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000" y="2300000"/>
            <a:ext cx="2300000" cy="900000"/>
          </a:xfrm>
          <a:prstGeom prst="roundRect">
            <a:avLst/>
          </a:prstGeom>
          <a:solidFill>
            <a:srgbClr val="4472C4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ML Demand Forecast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0000" y="2300000"/>
            <a:ext cx="2300000" cy="900000"/>
          </a:xfrm>
          <a:prstGeom prst="roundRect">
            <a:avLst/>
          </a:prstGeom>
          <a:solidFill>
            <a:srgbClr val="ED7D31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Evidence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0000" y="2300000"/>
            <a:ext cx="2300000" cy="900000"/>
          </a:xfrm>
          <a:prstGeom prst="roundRect">
            <a:avLst/>
          </a:prstGeom>
          <a:solidFill>
            <a:srgbClr val="70AD47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Agent Decision Engine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50000" y="2750000"/>
            <a:ext cx="1850000" cy="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00000" y="2750000"/>
            <a:ext cx="1200000" cy="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00000" y="4200000"/>
            <a:ext cx="6500000" cy="1000000"/>
          </a:xfrm>
          <a:prstGeom prst="roundRect">
            <a:avLst/>
          </a:prstGeom>
          <a:solidFill>
            <a:srgbClr val="FFC000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Recommendation: Prepare 158 servings
Example: forecast 180, recent waste + weekend context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000000" y="3200000"/>
            <a:ext cx="2650000" cy="100000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0000" y="5600000"/>
            <a:ext cx="9500000" cy="500000"/>
          </a:xfrm>
          <a:prstGeom prst="roundRect">
            <a:avLst/>
          </a:prstGeom>
          <a:solidFill>
            <a:srgbClr val="44546A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Feedback: actual demand + leftovers → prediction error → future recommendations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50000" y="5200000"/>
            <a:ext cx="0" cy="40000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240DB9C-F228-FC4A-B0F6-CD8212009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" y="1101852"/>
            <a:ext cx="10287000" cy="56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20F23B-ED44-E44E-820D-729DB5FD0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7000" y="149927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Backend Modules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68" name="Shape 168"/>
          <p:cNvSpPr/>
          <p:nvPr/>
        </p:nvSpPr>
        <p:spPr>
          <a:xfrm>
            <a:off x="868680" y="16916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Seven backend modules keep prediction, decision-making, feedback and analytics concerns separate.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9" name="Shape 169"/>
          <p:cNvSpPr/>
          <p:nvPr/>
        </p:nvSpPr>
        <p:spPr>
          <a:xfrm>
            <a:off x="868680" y="22860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70" name="Shape 170"/>
          <p:cNvSpPr/>
          <p:nvPr/>
        </p:nvSpPr>
        <p:spPr>
          <a:xfrm>
            <a:off x="100584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171" name="Shape 171"/>
          <p:cNvSpPr/>
          <p:nvPr/>
        </p:nvSpPr>
        <p:spPr>
          <a:xfrm>
            <a:off x="1508760" y="23591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Data Ingestion | CSV / form input / cafeteria records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3531870" y="22860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73" name="Shape 173"/>
          <p:cNvSpPr/>
          <p:nvPr/>
        </p:nvSpPr>
        <p:spPr>
          <a:xfrm>
            <a:off x="366903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174" name="Shape 174"/>
          <p:cNvSpPr/>
          <p:nvPr/>
        </p:nvSpPr>
        <p:spPr>
          <a:xfrm>
            <a:off x="4171950" y="23591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Feature Builder</a:t>
            </a:r>
            <a:endParaRPr lang="en-US" sz="1400" b="1" i="0" dirty="0">
              <a:solidFill>
                <a:srgbClr val="5B2D8E"/>
              </a:solidFill>
              <a:latin typeface="Arial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 lag demand • weekday • category • weather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6195060" y="22860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76" name="Shape 176"/>
          <p:cNvSpPr/>
          <p:nvPr/>
        </p:nvSpPr>
        <p:spPr>
          <a:xfrm>
            <a:off x="633222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177" name="Shape 177"/>
          <p:cNvSpPr/>
          <p:nvPr/>
        </p:nvSpPr>
        <p:spPr>
          <a:xfrm>
            <a:off x="6835140" y="23591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ML Predictor </a:t>
            </a:r>
            <a:endParaRPr lang="en-US" sz="1400" b="1" i="0" dirty="0">
              <a:solidFill>
                <a:srgbClr val="5B2D8E"/>
              </a:solidFill>
              <a:latin typeface="Arial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 Random Forest Regressor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8" name="Shape 178"/>
          <p:cNvSpPr/>
          <p:nvPr/>
        </p:nvSpPr>
        <p:spPr>
          <a:xfrm>
            <a:off x="8858250" y="22860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79" name="Shape 179"/>
          <p:cNvSpPr/>
          <p:nvPr/>
        </p:nvSpPr>
        <p:spPr>
          <a:xfrm>
            <a:off x="8995410" y="24140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4</a:t>
            </a:r>
          </a:p>
        </p:txBody>
      </p:sp>
      <p:sp>
        <p:nvSpPr>
          <p:cNvPr id="180" name="Shape 180"/>
          <p:cNvSpPr/>
          <p:nvPr/>
        </p:nvSpPr>
        <p:spPr>
          <a:xfrm>
            <a:off x="9498330" y="23591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Agent Engine </a:t>
            </a:r>
            <a:endParaRPr lang="en-US" sz="1400" b="1" i="0" dirty="0">
              <a:solidFill>
                <a:srgbClr val="5B2D8E"/>
              </a:solidFill>
              <a:latin typeface="Arial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 bias + waste + context + rules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868680" y="41148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82" name="Shape 182"/>
          <p:cNvSpPr/>
          <p:nvPr/>
        </p:nvSpPr>
        <p:spPr>
          <a:xfrm>
            <a:off x="100584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5</a:t>
            </a:r>
          </a:p>
        </p:txBody>
      </p:sp>
      <p:sp>
        <p:nvSpPr>
          <p:cNvPr id="183" name="Shape 183"/>
          <p:cNvSpPr/>
          <p:nvPr/>
        </p:nvSpPr>
        <p:spPr>
          <a:xfrm>
            <a:off x="1508760" y="41879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Feedback | </a:t>
            </a:r>
            <a:endParaRPr lang="en-US" sz="1400" b="1" i="0" dirty="0">
              <a:solidFill>
                <a:srgbClr val="5B2D8E"/>
              </a:solidFill>
              <a:latin typeface="Arial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actual sales • leftovers • prediction error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4" name="Shape 184"/>
          <p:cNvSpPr/>
          <p:nvPr/>
        </p:nvSpPr>
        <p:spPr>
          <a:xfrm>
            <a:off x="3531870" y="41148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85" name="Shape 185"/>
          <p:cNvSpPr/>
          <p:nvPr/>
        </p:nvSpPr>
        <p:spPr>
          <a:xfrm>
            <a:off x="366903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6</a:t>
            </a:r>
          </a:p>
        </p:txBody>
      </p:sp>
      <p:sp>
        <p:nvSpPr>
          <p:cNvPr id="186" name="Shape 186"/>
          <p:cNvSpPr/>
          <p:nvPr/>
        </p:nvSpPr>
        <p:spPr>
          <a:xfrm>
            <a:off x="4171950" y="41879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Analytics | </a:t>
            </a:r>
            <a:endParaRPr lang="en-US" sz="1400" b="1" i="0" dirty="0">
              <a:solidFill>
                <a:srgbClr val="5B2D8E"/>
              </a:solidFill>
              <a:latin typeface="Arial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trends • waste rate • savings indicators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6195060" y="41148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88" name="Shape 188"/>
          <p:cNvSpPr/>
          <p:nvPr/>
        </p:nvSpPr>
        <p:spPr>
          <a:xfrm>
            <a:off x="633222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7</a:t>
            </a:r>
          </a:p>
        </p:txBody>
      </p:sp>
      <p:sp>
        <p:nvSpPr>
          <p:cNvPr id="189" name="Shape 189"/>
          <p:cNvSpPr/>
          <p:nvPr/>
        </p:nvSpPr>
        <p:spPr>
          <a:xfrm>
            <a:off x="6835140" y="41879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 dirty="0">
                <a:solidFill>
                  <a:srgbClr val="5B2D8E"/>
                </a:solidFill>
                <a:latin typeface="Arial"/>
              </a:rPr>
              <a:t>API &amp; Database | Flask • SQLite / PostgreSQL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8858250" y="4114800"/>
            <a:ext cx="243459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8995410" y="4242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8</a:t>
            </a:r>
          </a:p>
        </p:txBody>
      </p:sp>
      <p:sp>
        <p:nvSpPr>
          <p:cNvPr id="192" name="Shape 192"/>
          <p:cNvSpPr/>
          <p:nvPr/>
        </p:nvSpPr>
        <p:spPr>
          <a:xfrm>
            <a:off x="9498330" y="4187952"/>
            <a:ext cx="1703070" cy="1472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Monitor | drift and performance checks</a:t>
            </a:r>
            <a:endParaRPr lang="en-US" sz="1400" b="1" i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646534-934B-DF41-B11D-3A6C98E0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629" y="321891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Module: Machine Learning Model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Data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93" name="Shape 193"/>
          <p:cNvSpPr/>
          <p:nvPr/>
        </p:nvSpPr>
        <p:spPr>
          <a:xfrm>
            <a:off x="868680" y="16459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Model evaluation is reported on a chronological synthetic prototype dataset.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868680" y="2194560"/>
            <a:ext cx="1042416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95" name="Shape 195"/>
          <p:cNvSpPr/>
          <p:nvPr/>
        </p:nvSpPr>
        <p:spPr>
          <a:xfrm>
            <a:off x="1005840" y="2276856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METRIC 01</a:t>
            </a:r>
            <a:endParaRPr lang="en-US" sz="105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6" name="Shape 196"/>
          <p:cNvSpPr/>
          <p:nvPr/>
        </p:nvSpPr>
        <p:spPr>
          <a:xfrm>
            <a:off x="2194560" y="2194560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MAE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5577840" y="219456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00" b="1" i="0">
                <a:solidFill>
                  <a:srgbClr val="756B85"/>
                </a:solidFill>
                <a:latin typeface="Arial"/>
              </a:rPr>
              <a:t>10.64 servings</a:t>
            </a:r>
            <a:endParaRPr lang="en-US" sz="1200" b="0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868680" y="2761488"/>
            <a:ext cx="1042416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199" name="Shape 199"/>
          <p:cNvSpPr/>
          <p:nvPr/>
        </p:nvSpPr>
        <p:spPr>
          <a:xfrm>
            <a:off x="1005840" y="2843784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METRIC 02</a:t>
            </a:r>
            <a:endParaRPr lang="en-US" sz="105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2194560" y="2761488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RMSE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1" name="Shape 201"/>
          <p:cNvSpPr/>
          <p:nvPr/>
        </p:nvSpPr>
        <p:spPr>
          <a:xfrm>
            <a:off x="5577840" y="2761488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00" b="1" i="0">
                <a:solidFill>
                  <a:srgbClr val="756B85"/>
                </a:solidFill>
                <a:latin typeface="Arial"/>
              </a:rPr>
              <a:t>13.34 servings</a:t>
            </a:r>
            <a:endParaRPr lang="en-US" sz="1200" b="0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2" name="Shape 202"/>
          <p:cNvSpPr/>
          <p:nvPr/>
        </p:nvSpPr>
        <p:spPr>
          <a:xfrm>
            <a:off x="868680" y="3328416"/>
            <a:ext cx="1042416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03" name="Shape 203"/>
          <p:cNvSpPr/>
          <p:nvPr/>
        </p:nvSpPr>
        <p:spPr>
          <a:xfrm>
            <a:off x="1005840" y="3410712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METRIC 03</a:t>
            </a:r>
            <a:endParaRPr lang="en-US" sz="105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2194560" y="3328416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R²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5577840" y="3328416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00" b="1" i="0">
                <a:solidFill>
                  <a:srgbClr val="756B85"/>
                </a:solidFill>
                <a:latin typeface="Arial"/>
              </a:rPr>
              <a:t>0.824</a:t>
            </a:r>
            <a:endParaRPr lang="en-US" sz="1200" b="0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868680" y="3895344"/>
            <a:ext cx="1042416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07" name="Shape 207"/>
          <p:cNvSpPr/>
          <p:nvPr/>
        </p:nvSpPr>
        <p:spPr>
          <a:xfrm>
            <a:off x="1005840" y="3977640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METRIC 04</a:t>
            </a:r>
            <a:endParaRPr lang="en-US" sz="105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2194560" y="3895344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Test Split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5577840" y="3895344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00" b="1" i="0">
                <a:solidFill>
                  <a:srgbClr val="756B85"/>
                </a:solidFill>
                <a:latin typeface="Arial"/>
              </a:rPr>
              <a:t>20% chronological holdout</a:t>
            </a:r>
            <a:endParaRPr lang="en-US" sz="1200" b="0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868680" y="4462272"/>
            <a:ext cx="1042416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11" name="Shape 211"/>
          <p:cNvSpPr/>
          <p:nvPr/>
        </p:nvSpPr>
        <p:spPr>
          <a:xfrm>
            <a:off x="1005840" y="4544568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METRIC 05</a:t>
            </a:r>
            <a:endParaRPr lang="en-US" sz="105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2" name="Shape 212"/>
          <p:cNvSpPr/>
          <p:nvPr/>
        </p:nvSpPr>
        <p:spPr>
          <a:xfrm>
            <a:off x="2194560" y="4462272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Observations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5577840" y="4462272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00" b="1" i="0">
                <a:solidFill>
                  <a:srgbClr val="756B85"/>
                </a:solidFill>
                <a:latin typeface="Arial"/>
              </a:rPr>
              <a:t>2,912 usable rows</a:t>
            </a:r>
            <a:endParaRPr lang="en-US" sz="1200" b="0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7EFF8-8129-1B40-8A61-B87C9F88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629" y="313726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Module: </a:t>
              </a:r>
              <a:r>
                <a:rPr lang="en-IN" sz="3200" b="1" dirty="0">
                  <a:solidFill>
                    <a:srgbClr val="7030A0"/>
                  </a:solidFill>
                </a:rPr>
                <a:t>Agent Safety &amp; Operational Scope</a:t>
              </a:r>
              <a:endParaRPr lang="en-US" sz="3200" b="1" dirty="0">
                <a:solidFill>
                  <a:srgbClr val="7030A0"/>
                </a:solidFill>
              </a:endParaRPr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15" name="Shape 215"/>
          <p:cNvSpPr/>
          <p:nvPr/>
        </p:nvSpPr>
        <p:spPr>
          <a:xfrm>
            <a:off x="868680" y="16459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Core Guarantee: the agent never replaces the ML forecast; it makes a transparent operational decision from the forecast plus evidence.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868680" y="219456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17" name="Shape 217"/>
          <p:cNvSpPr/>
          <p:nvPr/>
        </p:nvSpPr>
        <p:spPr>
          <a:xfrm>
            <a:off x="1005840" y="232257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218" name="Shape 218"/>
          <p:cNvSpPr/>
          <p:nvPr/>
        </p:nvSpPr>
        <p:spPr>
          <a:xfrm>
            <a:off x="1508760" y="2267712"/>
            <a:ext cx="1207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>
                <a:latin typeface="Aptos"/>
              </a:rPr>
              <a:t>Forecast First | Baseline demand from ML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9" name="Shape 219"/>
          <p:cNvSpPr/>
          <p:nvPr/>
        </p:nvSpPr>
        <p:spPr>
          <a:xfrm>
            <a:off x="2990088" y="219456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20" name="Shape 220"/>
          <p:cNvSpPr/>
          <p:nvPr/>
        </p:nvSpPr>
        <p:spPr>
          <a:xfrm>
            <a:off x="3127248" y="232257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221" name="Shape 221"/>
          <p:cNvSpPr/>
          <p:nvPr/>
        </p:nvSpPr>
        <p:spPr>
          <a:xfrm>
            <a:off x="3630168" y="2267712"/>
            <a:ext cx="1207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>
                <a:latin typeface="Aptos"/>
              </a:rPr>
              <a:t>Risk Check | Recent waste + bias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2" name="Shape 222"/>
          <p:cNvSpPr/>
          <p:nvPr/>
        </p:nvSpPr>
        <p:spPr>
          <a:xfrm>
            <a:off x="5111496" y="219456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23" name="Shape 223"/>
          <p:cNvSpPr/>
          <p:nvPr/>
        </p:nvSpPr>
        <p:spPr>
          <a:xfrm>
            <a:off x="5248656" y="232257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224" name="Shape 224"/>
          <p:cNvSpPr/>
          <p:nvPr/>
        </p:nvSpPr>
        <p:spPr>
          <a:xfrm>
            <a:off x="5751576" y="2267712"/>
            <a:ext cx="1207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>
                <a:latin typeface="Aptos"/>
              </a:rPr>
              <a:t>Context Check | Weekend + weather + events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7232904" y="219456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26" name="Shape 226"/>
          <p:cNvSpPr/>
          <p:nvPr/>
        </p:nvSpPr>
        <p:spPr>
          <a:xfrm>
            <a:off x="7370064" y="232257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4</a:t>
            </a:r>
          </a:p>
        </p:txBody>
      </p:sp>
      <p:sp>
        <p:nvSpPr>
          <p:cNvPr id="227" name="Shape 227"/>
          <p:cNvSpPr/>
          <p:nvPr/>
        </p:nvSpPr>
        <p:spPr>
          <a:xfrm>
            <a:off x="7872984" y="2267712"/>
            <a:ext cx="1207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>
                <a:latin typeface="Aptos"/>
              </a:rPr>
              <a:t>Preparation Plan | Adjusted quantity within limits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9354312" y="219456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29" name="Shape 229"/>
          <p:cNvSpPr/>
          <p:nvPr/>
        </p:nvSpPr>
        <p:spPr>
          <a:xfrm>
            <a:off x="9491472" y="232257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5</a:t>
            </a:r>
          </a:p>
        </p:txBody>
      </p:sp>
      <p:sp>
        <p:nvSpPr>
          <p:cNvPr id="230" name="Shape 230"/>
          <p:cNvSpPr/>
          <p:nvPr/>
        </p:nvSpPr>
        <p:spPr>
          <a:xfrm>
            <a:off x="9994392" y="2267712"/>
            <a:ext cx="1207008" cy="106070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>
                <a:latin typeface="Aptos"/>
              </a:rPr>
              <a:t>Explanation | Show why the quantity changed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1" name="Shape 231"/>
          <p:cNvSpPr/>
          <p:nvPr/>
        </p:nvSpPr>
        <p:spPr>
          <a:xfrm>
            <a:off x="868680" y="356616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137160" rIns="182880" bIns="137160" rtlCol="0" anchor="t"/>
          <a:lstStyle/>
          <a:p>
            <a:r>
              <a:rPr lang="en-IN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FoodWise</a:t>
            </a:r>
            <a:r>
              <a:rPr lang="en-IN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is a </a:t>
            </a:r>
            <a:r>
              <a:rPr lang="en-I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decision-support system for restaurants, cafeterias, canteens and other food-service businesses</a:t>
            </a:r>
            <a:r>
              <a:rPr lang="en-IN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does not autonomously control kitchen operations.</a:t>
            </a:r>
            <a:r>
              <a:rPr sz="2000" b="1" i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b="1" i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2" name="Shape 232"/>
          <p:cNvSpPr/>
          <p:nvPr/>
        </p:nvSpPr>
        <p:spPr>
          <a:xfrm>
            <a:off x="6172200" y="356616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137160" rIns="182880" bIns="13716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Safety &amp; Operational Guarantee | ✓ No hidden overrides of the model | ✓ Evidence-based adjustment | ✓ Human review remains available | ✓ Prototype results are clearly labelled as synthetic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7F0CF9-FFDD-0246-9C66-B2E4E78C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182" y="428897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Module: </a:t>
              </a:r>
              <a:r>
                <a:rPr lang="en-IN" sz="3200" b="1" dirty="0">
                  <a:solidFill>
                    <a:srgbClr val="7030A0"/>
                  </a:solidFill>
                </a:rPr>
                <a:t>Agentic RAG / Context Retrieval</a:t>
              </a:r>
              <a:endParaRPr lang="en-US" sz="3200" b="1" dirty="0">
                <a:solidFill>
                  <a:srgbClr val="7030A0"/>
                </a:solidFill>
              </a:endParaRPr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3" name="Shape 233"/>
          <p:cNvSpPr/>
          <p:nvPr/>
        </p:nvSpPr>
        <p:spPr>
          <a:xfrm>
            <a:off x="868680" y="1691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The optional RAG layer grounds agent explanations in retrieved cafeteria evidence and operating rules.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4" name="Shape 234"/>
          <p:cNvSpPr/>
          <p:nvPr/>
        </p:nvSpPr>
        <p:spPr>
          <a:xfrm>
            <a:off x="868680" y="22402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Example Agent Retrievals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" name="Shape 235"/>
          <p:cNvSpPr/>
          <p:nvPr/>
        </p:nvSpPr>
        <p:spPr>
          <a:xfrm>
            <a:off x="868680" y="260604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45720" rIns="182880" bIns="4572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2B2440"/>
                </a:solidFill>
                <a:latin typeface="Arial"/>
              </a:rPr>
              <a:t>"Why is today’s recommendation below the forecast?" | Retrieves recent waste rate and prediction-bias records</a:t>
            </a:r>
            <a:endParaRPr lang="en-US" sz="1250" b="1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868680" y="33832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45720" rIns="182880" bIns="4572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2B2440"/>
                </a:solidFill>
                <a:latin typeface="Arial"/>
              </a:rPr>
              <a:t>"What happened to this food item recently?" | Retrieves recent demand, leftovers and feedback history</a:t>
            </a:r>
            <a:endParaRPr lang="en-US" sz="1250" b="1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7" name="Shape 237"/>
          <p:cNvSpPr/>
          <p:nvPr/>
        </p:nvSpPr>
        <p:spPr>
          <a:xfrm>
            <a:off x="868680" y="42062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Key Capability: Retrieved context explains the decision; the numerical forecast remains the source of the baseline demand value.</a:t>
            </a:r>
            <a:endParaRPr lang="en-US" sz="1250" b="0" i="0" dirty="0">
              <a:solidFill>
                <a:srgbClr val="2B24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8" name="Shape 238"/>
          <p:cNvSpPr/>
          <p:nvPr/>
        </p:nvSpPr>
        <p:spPr>
          <a:xfrm>
            <a:off x="6217920" y="22402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Architecture Flow</a:t>
            </a:r>
            <a:endParaRPr lang="en-US" sz="13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9" name="Shape 239"/>
          <p:cNvSpPr/>
          <p:nvPr/>
        </p:nvSpPr>
        <p:spPr>
          <a:xfrm>
            <a:off x="6217920" y="265176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200" b="1" i="0">
                <a:solidFill>
                  <a:srgbClr val="5B2D8E"/>
                </a:solidFill>
                <a:latin typeface="Arial"/>
              </a:rPr>
              <a:t>Current Forecast | Predicted servings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0" name="Shape 240"/>
          <p:cNvSpPr/>
          <p:nvPr/>
        </p:nvSpPr>
        <p:spPr>
          <a:xfrm>
            <a:off x="8823960" y="265176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5B2D8E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Context Retrieval | Recent records + rules</a:t>
            </a:r>
            <a:endParaRPr lang="en-US" sz="120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1" name="Shape 241"/>
          <p:cNvSpPr/>
          <p:nvPr/>
        </p:nvSpPr>
        <p:spPr>
          <a:xfrm>
            <a:off x="6217920" y="361188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200" b="1" i="0">
                <a:solidFill>
                  <a:srgbClr val="5B2D8E"/>
                </a:solidFill>
                <a:latin typeface="Arial"/>
              </a:rPr>
              <a:t>Evidence Selection | Relevant signals only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2" name="Shape 242"/>
          <p:cNvSpPr/>
          <p:nvPr/>
        </p:nvSpPr>
        <p:spPr>
          <a:xfrm>
            <a:off x="8823960" y="361188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200" b="1" i="0">
                <a:solidFill>
                  <a:srgbClr val="5B2D8E"/>
                </a:solidFill>
                <a:latin typeface="Arial"/>
              </a:rPr>
              <a:t>Decision | Adjusted preparation quantity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3" name="Shape 243"/>
          <p:cNvSpPr/>
          <p:nvPr/>
        </p:nvSpPr>
        <p:spPr>
          <a:xfrm>
            <a:off x="6217920" y="457200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200" b="1" i="0">
                <a:solidFill>
                  <a:srgbClr val="5B2D8E"/>
                </a:solidFill>
                <a:latin typeface="Arial"/>
              </a:rPr>
              <a:t>Cited Explanation | Evidence + recommendation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4" name="Shape 244"/>
          <p:cNvSpPr/>
          <p:nvPr/>
        </p:nvSpPr>
        <p:spPr>
          <a:xfrm>
            <a:off x="8823960" y="457200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1200" b="1" i="0">
                <a:solidFill>
                  <a:srgbClr val="5B2D8E"/>
                </a:solidFill>
                <a:latin typeface="Arial"/>
              </a:rPr>
              <a:t>Dashboard | Agent activity + rationale</a:t>
            </a:r>
            <a:endParaRPr lang="en-US" sz="12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5" name="Shape 245"/>
          <p:cNvSpPr/>
          <p:nvPr/>
        </p:nvSpPr>
        <p:spPr>
          <a:xfrm>
            <a:off x="6217920" y="54864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950" b="1" i="0">
                <a:solidFill>
                  <a:srgbClr val="5B2D8E"/>
                </a:solidFill>
                <a:latin typeface="Arial"/>
              </a:rPr>
              <a:t>Forecast → Retrieval → Decision → Explanation → Feedback</a:t>
            </a:r>
            <a:endParaRPr lang="en-US" sz="9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2BB69-E5D6-EF4C-9EF0-7951119B9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686" y="377190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Implementation Progress: Execution Flow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15220" y="479054"/>
            <a:ext cx="64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Arial Black"/>
                <a:cs typeface="Arial" panose="020B0604020202020204" pitchFamily="34" charset="0"/>
              </a:rPr>
              <a:t>9</a:t>
            </a:r>
            <a:endParaRPr lang="en-IN" sz="3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868680" y="16459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Linear sequence from historical records to an actionable, feedback-aware preparation plan.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868680" y="2194560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48" name="Shape 248"/>
          <p:cNvSpPr/>
          <p:nvPr/>
        </p:nvSpPr>
        <p:spPr>
          <a:xfrm>
            <a:off x="978408" y="2313432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249" name="Shape 249"/>
          <p:cNvSpPr/>
          <p:nvPr/>
        </p:nvSpPr>
        <p:spPr>
          <a:xfrm>
            <a:off x="1508760" y="2194560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Historical Data | Load sales and leftover records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0" name="Shape 250"/>
          <p:cNvSpPr/>
          <p:nvPr/>
        </p:nvSpPr>
        <p:spPr>
          <a:xfrm>
            <a:off x="868680" y="2907792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51" name="Shape 251"/>
          <p:cNvSpPr/>
          <p:nvPr/>
        </p:nvSpPr>
        <p:spPr>
          <a:xfrm>
            <a:off x="978408" y="3026664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252" name="Shape 252"/>
          <p:cNvSpPr/>
          <p:nvPr/>
        </p:nvSpPr>
        <p:spPr>
          <a:xfrm>
            <a:off x="1508760" y="2907792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Feature Engineering | Create lag, calendar and context features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3" name="Shape 253"/>
          <p:cNvSpPr/>
          <p:nvPr/>
        </p:nvSpPr>
        <p:spPr>
          <a:xfrm>
            <a:off x="868680" y="3621024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54" name="Shape 254"/>
          <p:cNvSpPr/>
          <p:nvPr/>
        </p:nvSpPr>
        <p:spPr>
          <a:xfrm>
            <a:off x="978408" y="373989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255" name="Shape 255"/>
          <p:cNvSpPr/>
          <p:nvPr/>
        </p:nvSpPr>
        <p:spPr>
          <a:xfrm>
            <a:off x="1508760" y="3621024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ML Prediction | Forecast expected servings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6" name="Shape 256"/>
          <p:cNvSpPr/>
          <p:nvPr/>
        </p:nvSpPr>
        <p:spPr>
          <a:xfrm>
            <a:off x="868680" y="4334256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57" name="Shape 257"/>
          <p:cNvSpPr/>
          <p:nvPr/>
        </p:nvSpPr>
        <p:spPr>
          <a:xfrm>
            <a:off x="978408" y="4453128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258" name="Shape 258"/>
          <p:cNvSpPr/>
          <p:nvPr/>
        </p:nvSpPr>
        <p:spPr>
          <a:xfrm>
            <a:off x="1508760" y="4334256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Context Retrieval | Fetch waste, bias and operating signals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9" name="Shape 259"/>
          <p:cNvSpPr/>
          <p:nvPr/>
        </p:nvSpPr>
        <p:spPr>
          <a:xfrm>
            <a:off x="868680" y="5047488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60" name="Shape 260"/>
          <p:cNvSpPr/>
          <p:nvPr/>
        </p:nvSpPr>
        <p:spPr>
          <a:xfrm>
            <a:off x="978408" y="516636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261" name="Shape 261"/>
          <p:cNvSpPr/>
          <p:nvPr/>
        </p:nvSpPr>
        <p:spPr>
          <a:xfrm>
            <a:off x="1508760" y="5047488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Agent Decision | Calculate preparation recommendation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Shape 262"/>
          <p:cNvSpPr/>
          <p:nvPr/>
        </p:nvSpPr>
        <p:spPr>
          <a:xfrm>
            <a:off x="6172200" y="2194560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63" name="Shape 263"/>
          <p:cNvSpPr/>
          <p:nvPr/>
        </p:nvSpPr>
        <p:spPr>
          <a:xfrm>
            <a:off x="6281928" y="2313432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06</a:t>
            </a:r>
          </a:p>
        </p:txBody>
      </p:sp>
      <p:sp>
        <p:nvSpPr>
          <p:cNvPr id="264" name="Shape 264"/>
          <p:cNvSpPr/>
          <p:nvPr/>
        </p:nvSpPr>
        <p:spPr>
          <a:xfrm>
            <a:off x="6812280" y="2194560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Kitchen Action | Prepare recommended quantity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5" name="Shape 265"/>
          <p:cNvSpPr/>
          <p:nvPr/>
        </p:nvSpPr>
        <p:spPr>
          <a:xfrm>
            <a:off x="6172200" y="2907792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66" name="Shape 266"/>
          <p:cNvSpPr/>
          <p:nvPr/>
        </p:nvSpPr>
        <p:spPr>
          <a:xfrm>
            <a:off x="6281928" y="3026664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07</a:t>
            </a:r>
          </a:p>
        </p:txBody>
      </p:sp>
      <p:sp>
        <p:nvSpPr>
          <p:cNvPr id="267" name="Shape 267"/>
          <p:cNvSpPr/>
          <p:nvPr/>
        </p:nvSpPr>
        <p:spPr>
          <a:xfrm>
            <a:off x="6812280" y="2907792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Outcome Capture | Record sales and leftovers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8" name="Shape 268"/>
          <p:cNvSpPr/>
          <p:nvPr/>
        </p:nvSpPr>
        <p:spPr>
          <a:xfrm>
            <a:off x="6172200" y="3621024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69" name="Shape 269"/>
          <p:cNvSpPr/>
          <p:nvPr/>
        </p:nvSpPr>
        <p:spPr>
          <a:xfrm>
            <a:off x="6281928" y="373989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08</a:t>
            </a:r>
          </a:p>
        </p:txBody>
      </p:sp>
      <p:sp>
        <p:nvSpPr>
          <p:cNvPr id="270" name="Shape 270"/>
          <p:cNvSpPr/>
          <p:nvPr/>
        </p:nvSpPr>
        <p:spPr>
          <a:xfrm>
            <a:off x="6812280" y="3621024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Feedback Analysis | Calculate prediction error and waste rate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1" name="Shape 271"/>
          <p:cNvSpPr/>
          <p:nvPr/>
        </p:nvSpPr>
        <p:spPr>
          <a:xfrm>
            <a:off x="6172200" y="4334256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72" name="Shape 272"/>
          <p:cNvSpPr/>
          <p:nvPr/>
        </p:nvSpPr>
        <p:spPr>
          <a:xfrm>
            <a:off x="6281928" y="4453128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09</a:t>
            </a:r>
          </a:p>
        </p:txBody>
      </p:sp>
      <p:sp>
        <p:nvSpPr>
          <p:cNvPr id="273" name="Shape 273"/>
          <p:cNvSpPr/>
          <p:nvPr/>
        </p:nvSpPr>
        <p:spPr>
          <a:xfrm>
            <a:off x="6812280" y="4334256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Model/Rule Update | Refresh future decision inputs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4" name="Shape 274"/>
          <p:cNvSpPr/>
          <p:nvPr/>
        </p:nvSpPr>
        <p:spPr>
          <a:xfrm>
            <a:off x="6172200" y="5047488"/>
            <a:ext cx="5120640" cy="621792"/>
          </a:xfrm>
          <a:prstGeom prst="roundRect">
            <a:avLst>
              <a:gd name="adj" fmla="val 12000"/>
            </a:avLst>
          </a:prstGeom>
          <a:solidFill>
            <a:srgbClr val="5B2D8E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75" name="Shape 275"/>
          <p:cNvSpPr/>
          <p:nvPr/>
        </p:nvSpPr>
        <p:spPr>
          <a:xfrm>
            <a:off x="6281928" y="516636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10</a:t>
            </a:r>
          </a:p>
        </p:txBody>
      </p:sp>
      <p:sp>
        <p:nvSpPr>
          <p:cNvPr id="276" name="Shape 276"/>
          <p:cNvSpPr/>
          <p:nvPr/>
        </p:nvSpPr>
        <p:spPr>
          <a:xfrm>
            <a:off x="6812280" y="5047488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Dashboard | Show forecast, recommendation and impact</a:t>
            </a:r>
            <a:endParaRPr lang="en-US" sz="1250" b="1" i="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A70DC6-B2C1-F14B-A2BB-B5F56D3E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614" y="336696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Implementation Progress: Tech Stack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15220" y="479054"/>
            <a:ext cx="640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77" name="Shape 277"/>
          <p:cNvSpPr/>
          <p:nvPr/>
        </p:nvSpPr>
        <p:spPr>
          <a:xfrm>
            <a:off x="868680" y="16459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0" i="1">
                <a:solidFill>
                  <a:srgbClr val="756B85"/>
                </a:solidFill>
                <a:latin typeface="Arial"/>
              </a:rPr>
              <a:t>Built with React, Python Flask, Pandas, NumPy, scikit-learn and a relational database.</a:t>
            </a:r>
            <a:endParaRPr lang="en-US" sz="1250" b="0" i="1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8" name="Shape 278"/>
          <p:cNvSpPr/>
          <p:nvPr/>
        </p:nvSpPr>
        <p:spPr>
          <a:xfrm>
            <a:off x="868680" y="2148840"/>
            <a:ext cx="3322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FRONTEND | React | Tailwind / Bootstrap | Recharts or Chart.js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9" name="Shape 279"/>
          <p:cNvSpPr/>
          <p:nvPr/>
        </p:nvSpPr>
        <p:spPr>
          <a:xfrm>
            <a:off x="4419600" y="2148840"/>
            <a:ext cx="3322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BACKEND | Python | Flask REST API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0" name="Shape 280"/>
          <p:cNvSpPr/>
          <p:nvPr/>
        </p:nvSpPr>
        <p:spPr>
          <a:xfrm>
            <a:off x="7970520" y="2148840"/>
            <a:ext cx="3322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MACHINE LEARNING | Pandas | NumPy | scikit-learn | Random Forest Regressor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1" name="Shape 281"/>
          <p:cNvSpPr/>
          <p:nvPr/>
        </p:nvSpPr>
        <p:spPr>
          <a:xfrm>
            <a:off x="868680" y="3246120"/>
            <a:ext cx="3322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DATA &amp; STORAGE | SQLite prototype | PostgreSQL/MySQL production | CSV import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2" name="Shape 282"/>
          <p:cNvSpPr/>
          <p:nvPr/>
        </p:nvSpPr>
        <p:spPr>
          <a:xfrm>
            <a:off x="4419600" y="3246120"/>
            <a:ext cx="3322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AGENT &amp; RAG | Rule-based decision engine | Optional retrieval over structured cafeteria history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7970520" y="3246120"/>
            <a:ext cx="3322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DEPLOYMENT | Hostinger VPS | Gunicorn + Nginx | Optional Docker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4" name="Shape 284"/>
          <p:cNvSpPr/>
          <p:nvPr/>
        </p:nvSpPr>
        <p:spPr>
          <a:xfrm>
            <a:off x="868680" y="4434840"/>
            <a:ext cx="10424160" cy="128016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285" name="Shape 285"/>
          <p:cNvSpPr/>
          <p:nvPr/>
        </p:nvSpPr>
        <p:spPr>
          <a:xfrm>
            <a:off x="1051560" y="448056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WEB APPLICATION | Dashboard, Prediction, Food Records, Agent Activity, Analytics, Feedback and Admin modules.</a:t>
            </a:r>
            <a:endParaRPr lang="en-US" sz="125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4754880" y="46177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950" b="1" i="0">
                <a:solidFill>
                  <a:srgbClr val="756B85"/>
                </a:solidFill>
                <a:latin typeface="Arial"/>
              </a:rPr>
              <a:t>CORE PAGES | Dashboard, Demand Prediction, Food Records, Feedback</a:t>
            </a:r>
            <a:endParaRPr lang="en-US" sz="950" b="1" i="0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7" name="Shape 287"/>
          <p:cNvSpPr/>
          <p:nvPr/>
        </p:nvSpPr>
        <p:spPr>
          <a:xfrm>
            <a:off x="6949440" y="46177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950" b="1" i="0">
                <a:solidFill>
                  <a:srgbClr val="756B85"/>
                </a:solidFill>
                <a:latin typeface="Arial"/>
              </a:rPr>
              <a:t>ANALYSIS VIEWS | Forecast vs Actual, Waste Trends, Agent Rationale</a:t>
            </a:r>
            <a:endParaRPr lang="en-US" sz="950" b="1" i="0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8" name="Shape 288"/>
          <p:cNvSpPr/>
          <p:nvPr/>
        </p:nvSpPr>
        <p:spPr>
          <a:xfrm>
            <a:off x="9144000" y="46177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950" b="1" i="0">
                <a:solidFill>
                  <a:srgbClr val="756B85"/>
                </a:solidFill>
                <a:latin typeface="Arial"/>
              </a:rPr>
              <a:t>DATA LAYER | Database + historical CSV / operational records</a:t>
            </a:r>
            <a:endParaRPr lang="en-US" sz="950" b="1" i="0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7C7591-9B72-1F45-BFCA-2D8F6813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686" y="367715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Outputs/Results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15220" y="479054"/>
            <a:ext cx="640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Arial Black"/>
                <a:cs typeface="Arial" panose="020B0604020202020204" pitchFamily="34" charset="0"/>
              </a:rPr>
              <a:t>11</a:t>
            </a:r>
            <a:endParaRPr lang="en-IN" sz="25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89" name="Placeholder Frame"/>
          <p:cNvSpPr/>
          <p:nvPr/>
        </p:nvSpPr>
        <p:spPr>
          <a:xfrm>
            <a:off x="1128776" y="2053528"/>
            <a:ext cx="10449252" cy="3807913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B7A6D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0" name="Placeholder Text"/>
          <p:cNvSpPr/>
          <p:nvPr/>
        </p:nvSpPr>
        <p:spPr>
          <a:xfrm>
            <a:off x="1528776" y="3557000"/>
            <a:ext cx="9649252" cy="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900000" y="2350000"/>
            <a:ext cx="4800000" cy="1900000"/>
          </a:xfrm>
          <a:prstGeom prst="roundRect">
            <a:avLst/>
          </a:prstGeom>
          <a:solidFill>
            <a:srgbClr val="4472C4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Dashboard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[Insert actual website screenshot]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6600000" y="2350000"/>
            <a:ext cx="4800000" cy="1900000"/>
          </a:xfrm>
          <a:prstGeom prst="roundRect">
            <a:avLst/>
          </a:prstGeom>
          <a:solidFill>
            <a:srgbClr val="70AD47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Demand Prediction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[Insert actual website screenshot]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900000" y="4550000"/>
            <a:ext cx="4800000" cy="1200000"/>
          </a:xfrm>
          <a:prstGeom prst="roundRect">
            <a:avLst/>
          </a:prstGeom>
          <a:solidFill>
            <a:srgbClr val="ED7D31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Agent Recommendation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[Insert actual website screenshot]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6600000" y="4550000"/>
            <a:ext cx="4800000" cy="1200000"/>
          </a:xfrm>
          <a:prstGeom prst="roundRect">
            <a:avLst/>
          </a:prstGeom>
          <a:solidFill>
            <a:srgbClr val="FFC000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Analytics &amp; Waste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[Insert actual website screenshot]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B39E5-C80A-5A48-B70C-89DBA03DB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4984" y="1297003"/>
            <a:ext cx="7100596" cy="5036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AC1E09-489D-B144-89FF-BC1C8BA4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026" y="1308109"/>
            <a:ext cx="7480447" cy="49104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B0C778-7CDF-534C-8166-0EA4A703D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986" y="199481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Overall Project Progress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r"/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15220" y="479054"/>
            <a:ext cx="640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Arial Black"/>
              </a:rPr>
              <a:t>12</a:t>
            </a:r>
            <a:endParaRPr lang="en-IN" sz="25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Shape 306"/>
          <p:cNvSpPr/>
          <p:nvPr/>
        </p:nvSpPr>
        <p:spPr>
          <a:xfrm>
            <a:off x="868680" y="1783080"/>
            <a:ext cx="5074920" cy="685800"/>
          </a:xfrm>
          <a:prstGeom prst="roundRect">
            <a:avLst>
              <a:gd name="adj" fmla="val 10000"/>
            </a:avLst>
          </a:prstGeom>
          <a:solidFill>
            <a:srgbClr val="5B2D8E"/>
          </a:solidFill>
          <a:ln>
            <a:noFill/>
          </a:ln>
        </p:spPr>
        <p:txBody>
          <a:bodyPr wrap="square" lIns="228600" tIns="45720" rIns="228600" bIns="4572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 i="0">
                <a:solidFill>
                  <a:srgbClr val="F5C518"/>
                </a:solidFill>
                <a:latin typeface="Arial"/>
              </a:rPr>
              <a:t>EXPERIMENTAL EVALUATION | Prototype Results</a:t>
            </a:r>
            <a:endParaRPr lang="en-US" sz="1100" b="1" i="0" dirty="0">
              <a:solidFill>
                <a:srgbClr val="F5C51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7" name="Shape 307"/>
          <p:cNvSpPr/>
          <p:nvPr/>
        </p:nvSpPr>
        <p:spPr>
          <a:xfrm>
            <a:off x="868680" y="2651760"/>
            <a:ext cx="50749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08" name="Shape 308"/>
          <p:cNvSpPr/>
          <p:nvPr/>
        </p:nvSpPr>
        <p:spPr>
          <a:xfrm>
            <a:off x="1005840" y="2724912"/>
            <a:ext cx="4846320" cy="801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Random Forest Forecasting | MAE 10.64 servings; RMSE 13.34 servings; R² 0.824 on a chronological synthetic test split.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9" name="Shape 309"/>
          <p:cNvSpPr/>
          <p:nvPr/>
        </p:nvSpPr>
        <p:spPr>
          <a:xfrm>
            <a:off x="868680" y="3718560"/>
            <a:ext cx="50749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10" name="Shape 310"/>
          <p:cNvSpPr/>
          <p:nvPr/>
        </p:nvSpPr>
        <p:spPr>
          <a:xfrm>
            <a:off x="1005840" y="3791712"/>
            <a:ext cx="4846320" cy="801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Adaptive Agent | Simulated policy reduced over-preparation by approximately 62.3% versus a fixed 10% buffer under the generated prototype data.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1" name="Shape 311"/>
          <p:cNvSpPr/>
          <p:nvPr/>
        </p:nvSpPr>
        <p:spPr>
          <a:xfrm>
            <a:off x="868680" y="4785360"/>
            <a:ext cx="50749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12" name="Shape 312"/>
          <p:cNvSpPr/>
          <p:nvPr/>
        </p:nvSpPr>
        <p:spPr>
          <a:xfrm>
            <a:off x="1005840" y="4858512"/>
            <a:ext cx="4846320" cy="801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Feedback Loop | Recent prediction bias and waste rate are used to adjust future preparation recommendations.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3" name="Shape 313"/>
          <p:cNvSpPr/>
          <p:nvPr/>
        </p:nvSpPr>
        <p:spPr>
          <a:xfrm>
            <a:off x="6217920" y="1783080"/>
            <a:ext cx="5074920" cy="685800"/>
          </a:xfrm>
          <a:prstGeom prst="roundRect">
            <a:avLst>
              <a:gd name="adj" fmla="val 10000"/>
            </a:avLst>
          </a:prstGeom>
          <a:solidFill>
            <a:srgbClr val="5B2D8E"/>
          </a:solidFill>
          <a:ln>
            <a:noFill/>
          </a:ln>
        </p:spPr>
        <p:txBody>
          <a:bodyPr wrap="square" lIns="228600" tIns="45720" rIns="228600" bIns="4572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100" b="1" i="0">
                <a:solidFill>
                  <a:srgbClr val="F5C518"/>
                </a:solidFill>
                <a:latin typeface="Arial"/>
              </a:rPr>
              <a:t>FUTURE PATHWAYS | Planned Enhancements</a:t>
            </a:r>
            <a:endParaRPr lang="en-US" sz="1100" b="1" i="0" dirty="0">
              <a:solidFill>
                <a:srgbClr val="F5C51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4" name="Shape 314"/>
          <p:cNvSpPr/>
          <p:nvPr/>
        </p:nvSpPr>
        <p:spPr>
          <a:xfrm>
            <a:off x="6217920" y="2651760"/>
            <a:ext cx="5074920" cy="6629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15" name="Shape 315"/>
          <p:cNvSpPr/>
          <p:nvPr/>
        </p:nvSpPr>
        <p:spPr>
          <a:xfrm>
            <a:off x="6355080" y="2724912"/>
            <a:ext cx="4846320" cy="5349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Real Cafeteria Data | Replace synthetic records with actual daily sales and leftover measurements.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6" name="Shape 316"/>
          <p:cNvSpPr/>
          <p:nvPr/>
        </p:nvSpPr>
        <p:spPr>
          <a:xfrm>
            <a:off x="6217920" y="3451860"/>
            <a:ext cx="5074920" cy="6629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17" name="Shape 317"/>
          <p:cNvSpPr/>
          <p:nvPr/>
        </p:nvSpPr>
        <p:spPr>
          <a:xfrm>
            <a:off x="6355080" y="3525012"/>
            <a:ext cx="4846320" cy="5349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Live Context Signals | Integrate weather, events and menu schedules where available.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8" name="Shape 318"/>
          <p:cNvSpPr/>
          <p:nvPr/>
        </p:nvSpPr>
        <p:spPr>
          <a:xfrm>
            <a:off x="6217920" y="4251960"/>
            <a:ext cx="5074920" cy="6629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19" name="Shape 319"/>
          <p:cNvSpPr/>
          <p:nvPr/>
        </p:nvSpPr>
        <p:spPr>
          <a:xfrm>
            <a:off x="6355080" y="4325112"/>
            <a:ext cx="4846320" cy="5349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Advanced Models | Compare Gradient Boosting, XGBoost and time-series approaches.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0" name="Shape 320"/>
          <p:cNvSpPr/>
          <p:nvPr/>
        </p:nvSpPr>
        <p:spPr>
          <a:xfrm>
            <a:off x="6217920" y="5052060"/>
            <a:ext cx="5074920" cy="6629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73152" tIns="45720" rIns="73152" bIns="45720" rtlCol="0" anchor="t"/>
          <a:lstStyle/>
          <a:p>
            <a:endParaRPr lang="en-US"/>
          </a:p>
        </p:txBody>
      </p:sp>
      <p:sp>
        <p:nvSpPr>
          <p:cNvPr id="321" name="Shape 321"/>
          <p:cNvSpPr/>
          <p:nvPr/>
        </p:nvSpPr>
        <p:spPr>
          <a:xfrm>
            <a:off x="6355080" y="5125212"/>
            <a:ext cx="4846320" cy="5349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400" b="1" i="0">
                <a:solidFill>
                  <a:srgbClr val="5B2D8E"/>
                </a:solidFill>
                <a:latin typeface="Arial"/>
              </a:rPr>
              <a:t>Production Deployment | PostgreSQL, authentication, monitoring and role-based kitchen access.</a:t>
            </a:r>
            <a:endParaRPr lang="en-US" sz="14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CDF236-B2BF-4C42-8BC1-2E6BC072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629" y="281069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Project Conclusion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756B8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Department of Artificial Intelligence and Machine Learning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15220" y="479054"/>
            <a:ext cx="640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322" name="Shape 322"/>
          <p:cNvSpPr/>
          <p:nvPr/>
        </p:nvSpPr>
        <p:spPr>
          <a:xfrm>
            <a:off x="868680" y="173736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sz="1800" b="1" i="0">
                <a:solidFill>
                  <a:srgbClr val="5B2D8E"/>
                </a:solidFill>
                <a:latin typeface="Arial"/>
              </a:rPr>
              <a:t>Predict. Prepare. Prevent Waste.</a:t>
            </a:r>
            <a:endParaRPr lang="en-US" sz="1800" b="1" i="0" dirty="0">
              <a:solidFill>
                <a:srgbClr val="5B2D8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3" name="Shape 323"/>
          <p:cNvSpPr/>
          <p:nvPr/>
        </p:nvSpPr>
        <p:spPr>
          <a:xfrm>
            <a:off x="868680" y="219456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350" b="0" i="0">
                <a:solidFill>
                  <a:srgbClr val="756B85"/>
                </a:solidFill>
                <a:latin typeface="Arial"/>
              </a:rPr>
              <a:t>FoodWise AI connects ML forecasting with an adaptive agent and a continuous feedback loop to turn demand estimates into practical preparation decisions.</a:t>
            </a:r>
            <a:endParaRPr lang="en-US" sz="1350" b="0" i="0" dirty="0">
              <a:solidFill>
                <a:srgbClr val="756B85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4" name="Shape 324"/>
          <p:cNvSpPr/>
          <p:nvPr/>
        </p:nvSpPr>
        <p:spPr>
          <a:xfrm>
            <a:off x="868680" y="3017520"/>
            <a:ext cx="3322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228600" tIns="228600" rIns="228600" bIns="22860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500" b="1" i="0" dirty="0">
                <a:solidFill>
                  <a:srgbClr val="B8900A"/>
                </a:solidFill>
                <a:latin typeface="Arial"/>
              </a:rPr>
              <a:t>KEY PILLAR | Demand Intelligence | Historical consumption data is converted into a measurable forecast for each food item</a:t>
            </a:r>
            <a:r>
              <a:rPr sz="2000" b="1" i="0" dirty="0">
                <a:solidFill>
                  <a:srgbClr val="B8900A"/>
                </a:solidFill>
                <a:latin typeface="Arial"/>
              </a:rPr>
              <a:t>.</a:t>
            </a:r>
            <a:endParaRPr lang="en-US" sz="2000" b="1" i="0" dirty="0">
              <a:solidFill>
                <a:srgbClr val="B8900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5" name="Shape 325"/>
          <p:cNvSpPr/>
          <p:nvPr/>
        </p:nvSpPr>
        <p:spPr>
          <a:xfrm>
            <a:off x="4419600" y="3017520"/>
            <a:ext cx="3322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228600" tIns="228600" rIns="228600" bIns="22860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500" b="1" i="0" dirty="0">
                <a:solidFill>
                  <a:srgbClr val="B8900A"/>
                </a:solidFill>
                <a:latin typeface="Arial"/>
              </a:rPr>
              <a:t>KEY PILLAR | Agentic Prevention | The agent adjusts preparation using waste, prediction bias and context rather than applying a fixed buffer.</a:t>
            </a:r>
            <a:endParaRPr lang="en-US" sz="1500" b="1" i="0" dirty="0">
              <a:solidFill>
                <a:srgbClr val="B8900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6" name="Shape 326"/>
          <p:cNvSpPr/>
          <p:nvPr/>
        </p:nvSpPr>
        <p:spPr>
          <a:xfrm>
            <a:off x="7970520" y="3017520"/>
            <a:ext cx="3322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</p:spPr>
        <p:txBody>
          <a:bodyPr wrap="square" lIns="228600" tIns="228600" rIns="228600" bIns="22860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sz="1500" b="1" i="0" dirty="0">
                <a:solidFill>
                  <a:srgbClr val="B8900A"/>
                </a:solidFill>
                <a:latin typeface="Arial"/>
              </a:rPr>
              <a:t>KEY PILLAR | Scalable Foundation | Modular Flask services, a relational database and a React dashboard support future real-world deployment.</a:t>
            </a:r>
            <a:endParaRPr lang="en-US" sz="1500" b="1" i="0" dirty="0">
              <a:solidFill>
                <a:srgbClr val="B8900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895" y="6371924"/>
            <a:ext cx="962526" cy="179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FAFF0-22A8-624C-A5F1-C91D82C4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752" y="259406"/>
            <a:ext cx="22860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D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8236" y="320040"/>
            <a:ext cx="8412480" cy="8412480"/>
          </a:xfrm>
          <a:prstGeom prst="ellipse">
            <a:avLst/>
          </a:prstGeom>
          <a:solidFill>
            <a:srgbClr val="F5C518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408676" y="1051560"/>
            <a:ext cx="1371600" cy="1371600"/>
          </a:xfrm>
          <a:prstGeom prst="ellipse">
            <a:avLst/>
          </a:prstGeom>
          <a:solidFill>
            <a:srgbClr val="F5C518"/>
          </a:solidFill>
        </p:spPr>
        <p:txBody>
          <a:bodyPr/>
          <a:lstStyle/>
          <a:p>
            <a:endParaRPr lang="en-IN"/>
          </a:p>
        </p:txBody>
      </p:sp>
      <p:pic>
        <p:nvPicPr>
          <p:cNvPr id="4" name="Image 0" descr="iconp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28" y="1353312"/>
            <a:ext cx="768096" cy="768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545836" y="3794760"/>
            <a:ext cx="1097280" cy="54864"/>
          </a:xfrm>
          <a:prstGeom prst="rect">
            <a:avLst/>
          </a:prstGeom>
          <a:solidFill>
            <a:srgbClr val="F5C518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0" y="3650385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sz="1200" dirty="0">
                <a:latin typeface="Arial"/>
              </a:rPr>
              <a:t>Department of Artificial Intelligence and </a:t>
            </a:r>
            <a:r>
              <a:rPr lang="en-US" sz="12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1420</Words>
  <Application>Microsoft Macintosh PowerPoint</Application>
  <PresentationFormat>Widescreen</PresentationFormat>
  <Paragraphs>236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Prabhakar</cp:lastModifiedBy>
  <cp:revision>18</cp:revision>
  <dcterms:created xsi:type="dcterms:W3CDTF">2026-07-19T18:12:00Z</dcterms:created>
  <dcterms:modified xsi:type="dcterms:W3CDTF">2026-10-05T13:30:04Z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EAD15A1D49D54160AFA093155304A515_12</vt:lpwstr>
  </property>
  <property fmtid="{D5CDD505-2E9C-101B-9397-08002B2CF9AE}" pid="3" name="KSOProductBuildVer">
    <vt:lpwstr>1033-12.1.0.28485</vt:lpwstr>
  </property>
</Properties>
</file>